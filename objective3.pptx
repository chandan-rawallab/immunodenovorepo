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0F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646572" y="1642170"/>
            <a:ext cx="5850856" cy="11581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4560"/>
              </a:lnSpc>
              <a:spcBef>
                <a:spcPts val="3800"/>
              </a:spcBef>
              <a:spcAft>
                <a:spcPts val="1500"/>
              </a:spcAft>
              <a:buNone/>
            </a:pPr>
            <a:r>
              <a:rPr lang="en-US" sz="3800" dirty="0">
                <a:solidFill>
                  <a:srgbClr val="00E5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Autonomous Neoepitope</a:t>
            </a:r>
            <a:endParaRPr lang="en-US" sz="3800" dirty="0"/>
          </a:p>
          <a:p>
            <a:pPr algn="ctr" indent="0" marL="0">
              <a:lnSpc>
                <a:spcPts val="4560"/>
              </a:lnSpc>
              <a:spcBef>
                <a:spcPts val="3800"/>
              </a:spcBef>
              <a:spcAft>
                <a:spcPts val="1500"/>
              </a:spcAft>
              <a:buNone/>
            </a:pPr>
            <a:r>
              <a:rPr lang="en-US" sz="3800" dirty="0">
                <a:solidFill>
                  <a:srgbClr val="00E5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Discovery Pipeline</a:t>
            </a:r>
            <a:endParaRPr lang="en-US" sz="3800" dirty="0"/>
          </a:p>
        </p:txBody>
      </p:sp>
      <p:sp>
        <p:nvSpPr>
          <p:cNvPr id="3" name="Text 1"/>
          <p:cNvSpPr/>
          <p:nvPr/>
        </p:nvSpPr>
        <p:spPr>
          <a:xfrm>
            <a:off x="2317095" y="3232100"/>
            <a:ext cx="4509662" cy="6753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660"/>
              </a:lnSpc>
              <a:spcBef>
                <a:spcPts val="1900"/>
              </a:spcBef>
              <a:spcAft>
                <a:spcPts val="600"/>
              </a:spcAft>
              <a:buNone/>
            </a:pPr>
            <a:r>
              <a:rPr lang="en-US" sz="19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Objective 3: Deep Learning Methodology, </a:t>
            </a:r>
            <a:endParaRPr lang="en-US" sz="1900" dirty="0"/>
          </a:p>
          <a:p>
            <a:pPr algn="ctr" indent="0" marL="0">
              <a:lnSpc>
                <a:spcPts val="2660"/>
              </a:lnSpc>
              <a:spcBef>
                <a:spcPts val="1900"/>
              </a:spcBef>
              <a:spcAft>
                <a:spcPts val="600"/>
              </a:spcAft>
              <a:buNone/>
            </a:pPr>
            <a:r>
              <a:rPr lang="en-US" sz="19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Data Architecture, &amp; Filtering Protocols</a:t>
            </a:r>
            <a:endParaRPr lang="en-US" sz="1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0F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890885"/>
          </a:xfrm>
          <a:prstGeom prst="rect">
            <a:avLst/>
          </a:prstGeom>
          <a:solidFill>
            <a:srgbClr val="131C2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871835"/>
            <a:ext cx="9144000" cy="0"/>
          </a:xfrm>
          <a:prstGeom prst="line">
            <a:avLst/>
          </a:prstGeom>
          <a:noFill/>
          <a:ln w="38100">
            <a:solidFill>
              <a:srgbClr val="7C4D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81000" y="264468"/>
            <a:ext cx="2248683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1. Strategic </a:t>
            </a:r>
            <a:pPr algn="l" indent="0" marL="0">
              <a:buNone/>
            </a:pPr>
            <a:r>
              <a:rPr lang="en-US" sz="2200" b="1" dirty="0">
                <a:solidFill>
                  <a:srgbClr val="00E5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Goal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81000" y="1081385"/>
            <a:ext cx="3886200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7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Challenge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381000" y="1490960"/>
            <a:ext cx="3886200" cy="9904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60"/>
              </a:lnSpc>
              <a:spcBef>
                <a:spcPts val="1200"/>
              </a:spcBef>
              <a:spcAft>
                <a:spcPts val="600"/>
              </a:spcAft>
              <a:buNone/>
            </a:pPr>
            <a:r>
              <a:rPr lang="en-US" sz="12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Traditional proteomics relies on matching mass spectrometry (MS/MS) data to known reference databases. This inherently blinds researchers to highly mutated, tumor-specific neoantigens not present in the reference genome.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0" y="890885"/>
            <a:ext cx="4572000" cy="4252615"/>
          </a:xfrm>
          <a:prstGeom prst="rect">
            <a:avLst/>
          </a:prstGeom>
          <a:solidFill>
            <a:srgbClr val="131C2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4953000" y="1081385"/>
            <a:ext cx="3886200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7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Our Innovation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4991100" y="1490960"/>
            <a:ext cx="0" cy="990451"/>
          </a:xfrm>
          <a:prstGeom prst="line">
            <a:avLst/>
          </a:prstGeom>
          <a:noFill/>
          <a:ln w="76200">
            <a:solidFill>
              <a:srgbClr val="7C4D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181600" y="1490960"/>
            <a:ext cx="3653028" cy="9904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60"/>
              </a:lnSpc>
              <a:spcBef>
                <a:spcPts val="1200"/>
              </a:spcBef>
              <a:spcAft>
                <a:spcPts val="600"/>
              </a:spcAft>
              <a:buNone/>
            </a:pPr>
            <a:r>
              <a:rPr lang="en-US" sz="12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We built a fully autonomous pipeline that uses Deep Learning (CNN-LSTM) to perform </a:t>
            </a:r>
            <a:pPr algn="l" indent="0" marL="0">
              <a:lnSpc>
                <a:spcPts val="1560"/>
              </a:lnSpc>
              <a:spcBef>
                <a:spcPts val="1200"/>
              </a:spcBef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 Novo sequencing</a:t>
            </a:r>
            <a:pPr algn="l" indent="0" marL="0">
              <a:lnSpc>
                <a:spcPts val="1560"/>
              </a:lnSpc>
              <a:spcBef>
                <a:spcPts val="1200"/>
              </a:spcBef>
              <a:spcAft>
                <a:spcPts val="600"/>
              </a:spcAft>
              <a:buNone/>
            </a:pPr>
            <a:r>
              <a:rPr lang="en-US" sz="12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. It reads raw spectra directly to discover novel, mutated sequences, validated by RNA expression and HLA binding affinity.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0F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890885"/>
          </a:xfrm>
          <a:prstGeom prst="rect">
            <a:avLst/>
          </a:prstGeom>
          <a:solidFill>
            <a:srgbClr val="131C2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871835"/>
            <a:ext cx="9144000" cy="0"/>
          </a:xfrm>
          <a:prstGeom prst="line">
            <a:avLst/>
          </a:prstGeom>
          <a:noFill/>
          <a:ln w="38100">
            <a:solidFill>
              <a:srgbClr val="7C4D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81000" y="264468"/>
            <a:ext cx="3673977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2. Core </a:t>
            </a:r>
            <a:pPr algn="l" indent="0" marL="0">
              <a:buNone/>
            </a:pPr>
            <a:r>
              <a:rPr lang="en-US" sz="2200" b="1" dirty="0">
                <a:solidFill>
                  <a:srgbClr val="00E5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Data Dependencies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81000" y="1081385"/>
            <a:ext cx="4845606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7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Datasets &amp; Integration Points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381000" y="1414760"/>
            <a:ext cx="4750594" cy="2727424"/>
          </a:xfrm>
          <a:prstGeom prst="rect">
            <a:avLst/>
          </a:prstGeom>
          <a:noFill/>
          <a:ln/>
        </p:spPr>
        <p:txBody>
          <a:bodyPr wrap="square" lIns="101600" tIns="0" rIns="0" bIns="0" rtlCol="0" anchor="t"/>
          <a:lstStyle/>
          <a:p>
            <a:pPr algn="l" marL="101600" indent="-101600">
              <a:lnSpc>
                <a:spcPts val="1560"/>
              </a:lnSpc>
              <a:spcAft>
                <a:spcPts val="400"/>
              </a:spcAft>
              <a:buSzPct val="100000"/>
              <a:buChar char="•"/>
            </a:pPr>
            <a:r>
              <a:rPr lang="en-US" sz="1200" b="1" dirty="0">
                <a:solidFill>
                  <a:srgbClr val="00E5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[Step 1]</a:t>
            </a:r>
            <a:pPr algn="l" indent="0" marL="0">
              <a:lnSpc>
                <a:spcPts val="1560"/>
              </a:lnSpc>
              <a:spcAft>
                <a:spcPts val="400"/>
              </a:spcAft>
              <a:buNone/>
            </a:pPr>
            <a:r>
              <a:rPr lang="en-US" sz="12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</a:t>
            </a:r>
            <a:pPr algn="l" indent="0" marL="0">
              <a:lnSpc>
                <a:spcPts val="1560"/>
              </a:lnSpc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Raw MS/MS Spectra:</a:t>
            </a:r>
            <a:pPr algn="l" indent="0" marL="0">
              <a:lnSpc>
                <a:spcPts val="1560"/>
              </a:lnSpc>
              <a:spcAft>
                <a:spcPts val="400"/>
              </a:spcAft>
              <a:buNone/>
            </a:pPr>
            <a:r>
              <a:rPr lang="en-US" sz="12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The foundation. Physical experimental data (e.g., from PRIDE) containing the mass-to-charge ratios of fragmented peptides. </a:t>
            </a:r>
            <a:pPr algn="l" indent="0" marL="0">
              <a:lnSpc>
                <a:spcPts val="1560"/>
              </a:lnSpc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00E5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(src/data_prep/00_acquire_data.py)</a:t>
            </a:r>
            <a:endParaRPr lang="en-US" sz="1200" dirty="0"/>
          </a:p>
          <a:p>
            <a:pPr algn="l" marL="101600" indent="-101600">
              <a:lnSpc>
                <a:spcPts val="1560"/>
              </a:lnSpc>
              <a:spcAft>
                <a:spcPts val="400"/>
              </a:spcAft>
              <a:buSzPct val="100000"/>
              <a:buChar char="•"/>
            </a:pPr>
            <a:r>
              <a:rPr lang="en-US" sz="1200" b="1" dirty="0">
                <a:solidFill>
                  <a:srgbClr val="00E5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[Step 2]</a:t>
            </a:r>
            <a:pPr algn="l" indent="0" marL="0">
              <a:lnSpc>
                <a:spcPts val="1560"/>
              </a:lnSpc>
              <a:spcAft>
                <a:spcPts val="400"/>
              </a:spcAft>
              <a:buNone/>
            </a:pPr>
            <a:r>
              <a:rPr lang="en-US" sz="12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</a:t>
            </a:r>
            <a:pPr algn="l" indent="0" marL="0">
              <a:lnSpc>
                <a:spcPts val="1560"/>
              </a:lnSpc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Human Reference Proteome:</a:t>
            </a:r>
            <a:pPr algn="l" indent="0" marL="0">
              <a:lnSpc>
                <a:spcPts val="1560"/>
              </a:lnSpc>
              <a:spcAft>
                <a:spcPts val="400"/>
              </a:spcAft>
              <a:buNone/>
            </a:pPr>
            <a:r>
              <a:rPr lang="en-US" sz="12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Sourced from UniProt. Used strictly to establish the normal baseline and filter out healthy background. </a:t>
            </a:r>
            <a:pPr algn="l" indent="0" marL="0">
              <a:lnSpc>
                <a:spcPts val="1560"/>
              </a:lnSpc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00E5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(src/data_prep/04_extract_psms.py)</a:t>
            </a:r>
            <a:endParaRPr lang="en-US" sz="1200" dirty="0"/>
          </a:p>
          <a:p>
            <a:pPr algn="l" marL="101600" indent="-101600">
              <a:lnSpc>
                <a:spcPts val="1560"/>
              </a:lnSpc>
              <a:spcAft>
                <a:spcPts val="400"/>
              </a:spcAft>
              <a:buSzPct val="100000"/>
              <a:buChar char="•"/>
            </a:pPr>
            <a:r>
              <a:rPr lang="en-US" sz="1200" b="1" dirty="0">
                <a:solidFill>
                  <a:srgbClr val="00E5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[Step 3 &amp; 8]</a:t>
            </a:r>
            <a:pPr algn="l" indent="0" marL="0">
              <a:lnSpc>
                <a:spcPts val="1560"/>
              </a:lnSpc>
              <a:spcAft>
                <a:spcPts val="400"/>
              </a:spcAft>
              <a:buNone/>
            </a:pPr>
            <a:r>
              <a:rPr lang="en-US" sz="12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</a:t>
            </a:r>
            <a:pPr algn="l" indent="0" marL="0">
              <a:lnSpc>
                <a:spcPts val="1560"/>
              </a:lnSpc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HLA Typing Data:</a:t>
            </a:r>
            <a:pPr algn="l" indent="0" marL="0">
              <a:lnSpc>
                <a:spcPts val="1560"/>
              </a:lnSpc>
              <a:spcAft>
                <a:spcPts val="400"/>
              </a:spcAft>
              <a:buNone/>
            </a:pPr>
            <a:r>
              <a:rPr lang="en-US" sz="12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Extracted from patient manifests. Required for the final MHC binding affinity calculations. </a:t>
            </a:r>
            <a:pPr algn="l" indent="0" marL="0">
              <a:lnSpc>
                <a:spcPts val="1560"/>
              </a:lnSpc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00E5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(src/data_prep/00c_autotype_hla.py)</a:t>
            </a:r>
            <a:endParaRPr lang="en-US" sz="1200" dirty="0"/>
          </a:p>
          <a:p>
            <a:pPr algn="l" marL="101600" indent="-101600">
              <a:lnSpc>
                <a:spcPts val="1560"/>
              </a:lnSpc>
              <a:spcAft>
                <a:spcPts val="400"/>
              </a:spcAft>
              <a:buSzPct val="100000"/>
              <a:buChar char="•"/>
            </a:pPr>
            <a:r>
              <a:rPr lang="en-US" sz="1200" b="1" dirty="0">
                <a:solidFill>
                  <a:srgbClr val="00E5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[Step 4 &amp; 8]</a:t>
            </a:r>
            <a:pPr algn="l" indent="0" marL="0">
              <a:lnSpc>
                <a:spcPts val="1560"/>
              </a:lnSpc>
              <a:spcAft>
                <a:spcPts val="400"/>
              </a:spcAft>
              <a:buNone/>
            </a:pPr>
            <a:r>
              <a:rPr lang="en-US" sz="12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</a:t>
            </a:r>
            <a:pPr algn="l" indent="0" marL="0">
              <a:lnSpc>
                <a:spcPts val="1560"/>
              </a:lnSpc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RNA-seq Expression:</a:t>
            </a:r>
            <a:pPr algn="l" indent="0" marL="0">
              <a:lnSpc>
                <a:spcPts val="1560"/>
              </a:lnSpc>
              <a:spcAft>
                <a:spcPts val="400"/>
              </a:spcAft>
              <a:buNone/>
            </a:pPr>
            <a:r>
              <a:rPr lang="en-US" sz="12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Confirms the genomic mutation is actively transcribed. Used for the final Transcript-Per-Million (TPM) filter. </a:t>
            </a:r>
            <a:pPr algn="l" indent="0" marL="0">
              <a:lnSpc>
                <a:spcPts val="1560"/>
              </a:lnSpc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00E5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(src/data_prep/00d_link_expression.py)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512594" y="890885"/>
            <a:ext cx="3631406" cy="4252615"/>
          </a:xfrm>
          <a:prstGeom prst="rect">
            <a:avLst/>
          </a:prstGeom>
          <a:solidFill>
            <a:srgbClr val="131C2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Shape 6"/>
          <p:cNvSpPr/>
          <p:nvPr/>
        </p:nvSpPr>
        <p:spPr>
          <a:xfrm>
            <a:off x="5522119" y="890885"/>
            <a:ext cx="0" cy="4252615"/>
          </a:xfrm>
          <a:prstGeom prst="line">
            <a:avLst/>
          </a:prstGeom>
          <a:noFill/>
          <a:ln w="19050">
            <a:solidFill>
              <a:srgbClr val="1E293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12644" y="1220986"/>
            <a:ext cx="2907363" cy="1675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20"/>
              </a:lnSpc>
              <a:spcBef>
                <a:spcPts val="1100"/>
              </a:spcBef>
              <a:spcAft>
                <a:spcPts val="600"/>
              </a:spcAft>
              <a:buNone/>
            </a:pPr>
            <a:r>
              <a:rPr lang="en-US" sz="1100" b="1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Why multiple datasets?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912644" y="1528167"/>
            <a:ext cx="2907363" cy="6703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20"/>
              </a:lnSpc>
              <a:spcBef>
                <a:spcPts val="1100"/>
              </a:spcBef>
              <a:spcAft>
                <a:spcPts val="600"/>
              </a:spcAft>
              <a:buNone/>
            </a:pPr>
            <a:r>
              <a:rPr lang="en-US" sz="11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MS/MS proves the protein exists. RNA-seq proves the gene is active. HLA proves the immune system can see it. All three are required for clinical viability.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0F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890885"/>
          </a:xfrm>
          <a:prstGeom prst="rect">
            <a:avLst/>
          </a:prstGeom>
          <a:solidFill>
            <a:srgbClr val="131C2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871835"/>
            <a:ext cx="9144000" cy="0"/>
          </a:xfrm>
          <a:prstGeom prst="line">
            <a:avLst/>
          </a:prstGeom>
          <a:noFill/>
          <a:ln w="38100">
            <a:solidFill>
              <a:srgbClr val="7C4D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81000" y="264468"/>
            <a:ext cx="4770766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3. End-to-End </a:t>
            </a:r>
            <a:pPr algn="l" indent="0" marL="0">
              <a:buNone/>
            </a:pPr>
            <a:r>
              <a:rPr lang="en-US" sz="2200" b="1" dirty="0">
                <a:solidFill>
                  <a:srgbClr val="00E5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Pipeline Architecture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81000" y="1081385"/>
            <a:ext cx="3886200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7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Phase A: Curation &amp; Baseline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381000" y="1414760"/>
            <a:ext cx="3810000" cy="1538883"/>
          </a:xfrm>
          <a:prstGeom prst="rect">
            <a:avLst/>
          </a:prstGeom>
          <a:noFill/>
          <a:ln/>
        </p:spPr>
        <p:txBody>
          <a:bodyPr wrap="square" lIns="101600" tIns="0" rIns="0" bIns="0" rtlCol="0" anchor="t"/>
          <a:lstStyle/>
          <a:p>
            <a:pPr algn="l" marL="101600" indent="-101600">
              <a:lnSpc>
                <a:spcPts val="1560"/>
              </a:lnSpc>
              <a:spcAft>
                <a:spcPts val="400"/>
              </a:spcAft>
              <a:buSzPct val="100000"/>
              <a:buChar char="•"/>
            </a:pPr>
            <a:r>
              <a:rPr lang="en-US" sz="1200" b="1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1. Data Acquisition:</a:t>
            </a:r>
            <a:pPr algn="l" indent="0" marL="0">
              <a:lnSpc>
                <a:spcPts val="1560"/>
              </a:lnSpc>
              <a:spcAft>
                <a:spcPts val="400"/>
              </a:spcAft>
              <a:buNone/>
            </a:pPr>
            <a:r>
              <a:rPr lang="en-US" sz="12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Autonomous download of RAW/MGF MS/MS data.</a:t>
            </a:r>
            <a:endParaRPr lang="en-US" sz="1200" dirty="0"/>
          </a:p>
          <a:p>
            <a:pPr algn="l" marL="101600" indent="-101600">
              <a:lnSpc>
                <a:spcPts val="1560"/>
              </a:lnSpc>
              <a:spcAft>
                <a:spcPts val="400"/>
              </a:spcAft>
              <a:buSzPct val="100000"/>
              <a:buChar char="•"/>
            </a:pPr>
            <a:r>
              <a:rPr lang="en-US" sz="1200" b="1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2. Baseline Profiling:</a:t>
            </a:r>
            <a:pPr algn="l" indent="0" marL="0">
              <a:lnSpc>
                <a:spcPts val="1560"/>
              </a:lnSpc>
              <a:spcAft>
                <a:spcPts val="400"/>
              </a:spcAft>
              <a:buNone/>
            </a:pPr>
            <a:r>
              <a:rPr lang="en-US" sz="12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Identifying standard human peptides.</a:t>
            </a:r>
            <a:endParaRPr lang="en-US" sz="1200" dirty="0"/>
          </a:p>
          <a:p>
            <a:pPr algn="l" marL="101600" indent="-101600">
              <a:lnSpc>
                <a:spcPts val="1560"/>
              </a:lnSpc>
              <a:spcAft>
                <a:spcPts val="400"/>
              </a:spcAft>
              <a:buSzPct val="100000"/>
              <a:buChar char="•"/>
            </a:pPr>
            <a:r>
              <a:rPr lang="en-US" sz="1200" b="1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3. HLA Auto-typing:</a:t>
            </a:r>
            <a:pPr algn="l" indent="0" marL="0">
              <a:lnSpc>
                <a:spcPts val="1560"/>
              </a:lnSpc>
              <a:spcAft>
                <a:spcPts val="400"/>
              </a:spcAft>
              <a:buNone/>
            </a:pPr>
            <a:r>
              <a:rPr lang="en-US" sz="12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Patient allele extraction.</a:t>
            </a:r>
            <a:endParaRPr lang="en-US" sz="1200" dirty="0"/>
          </a:p>
          <a:p>
            <a:pPr algn="l" marL="101600" indent="-101600">
              <a:lnSpc>
                <a:spcPts val="1560"/>
              </a:lnSpc>
              <a:spcAft>
                <a:spcPts val="400"/>
              </a:spcAft>
              <a:buSzPct val="100000"/>
              <a:buChar char="•"/>
            </a:pPr>
            <a:r>
              <a:rPr lang="en-US" sz="1200" b="1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4. Expression Linking:</a:t>
            </a:r>
            <a:pPr algn="l" indent="0" marL="0">
              <a:lnSpc>
                <a:spcPts val="1560"/>
              </a:lnSpc>
              <a:spcAft>
                <a:spcPts val="400"/>
              </a:spcAft>
              <a:buNone/>
            </a:pPr>
            <a:r>
              <a:rPr lang="en-US" sz="12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Mapping RNA-seq to tumor profiles.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0" y="890885"/>
            <a:ext cx="4572000" cy="4252615"/>
          </a:xfrm>
          <a:prstGeom prst="rect">
            <a:avLst/>
          </a:prstGeom>
          <a:solidFill>
            <a:srgbClr val="131C2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4953000" y="1081385"/>
            <a:ext cx="3886200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7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Phase B: AI Discovery &amp; Validation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4953000" y="1414760"/>
            <a:ext cx="3810000" cy="1340793"/>
          </a:xfrm>
          <a:prstGeom prst="rect">
            <a:avLst/>
          </a:prstGeom>
          <a:noFill/>
          <a:ln/>
        </p:spPr>
        <p:txBody>
          <a:bodyPr wrap="square" lIns="101600" tIns="0" rIns="0" bIns="0" rtlCol="0" anchor="t"/>
          <a:lstStyle/>
          <a:p>
            <a:pPr algn="l" marL="101600" indent="-101600">
              <a:lnSpc>
                <a:spcPts val="1560"/>
              </a:lnSpc>
              <a:spcAft>
                <a:spcPts val="400"/>
              </a:spcAft>
              <a:buSzPct val="100000"/>
              <a:buChar char="•"/>
            </a:pPr>
            <a:r>
              <a:rPr lang="en-US" sz="1200" b="1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5. Spectra Extraction:</a:t>
            </a:r>
            <a:pPr algn="l" indent="0" marL="0">
              <a:lnSpc>
                <a:spcPts val="1560"/>
              </a:lnSpc>
              <a:spcAft>
                <a:spcPts val="400"/>
              </a:spcAft>
              <a:buNone/>
            </a:pPr>
            <a:r>
              <a:rPr lang="en-US" sz="12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Isolating unmapped 'dark matter'.</a:t>
            </a:r>
            <a:endParaRPr lang="en-US" sz="1200" dirty="0"/>
          </a:p>
          <a:p>
            <a:pPr algn="l" marL="101600" indent="-101600">
              <a:lnSpc>
                <a:spcPts val="1560"/>
              </a:lnSpc>
              <a:spcAft>
                <a:spcPts val="400"/>
              </a:spcAft>
              <a:buSzPct val="100000"/>
              <a:buChar char="•"/>
            </a:pPr>
            <a:r>
              <a:rPr lang="en-US" sz="1200" b="1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6. AI De Novo Prediction:</a:t>
            </a:r>
            <a:pPr algn="l" indent="0" marL="0">
              <a:lnSpc>
                <a:spcPts val="1560"/>
              </a:lnSpc>
              <a:spcAft>
                <a:spcPts val="400"/>
              </a:spcAft>
              <a:buNone/>
            </a:pPr>
            <a:r>
              <a:rPr lang="en-US" sz="12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CNN-LSTM generation.</a:t>
            </a:r>
            <a:endParaRPr lang="en-US" sz="1200" dirty="0"/>
          </a:p>
          <a:p>
            <a:pPr algn="l" marL="101600" indent="-101600">
              <a:lnSpc>
                <a:spcPts val="1560"/>
              </a:lnSpc>
              <a:spcAft>
                <a:spcPts val="400"/>
              </a:spcAft>
              <a:buSzPct val="100000"/>
              <a:buChar char="•"/>
            </a:pPr>
            <a:r>
              <a:rPr lang="en-US" sz="1200" b="1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7. Structural Filtering:</a:t>
            </a:r>
            <a:pPr algn="l" indent="0" marL="0">
              <a:lnSpc>
                <a:spcPts val="1560"/>
              </a:lnSpc>
              <a:spcAft>
                <a:spcPts val="400"/>
              </a:spcAft>
              <a:buNone/>
            </a:pPr>
            <a:r>
              <a:rPr lang="en-US" sz="12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Missense and FDR checks.</a:t>
            </a:r>
            <a:endParaRPr lang="en-US" sz="1200" dirty="0"/>
          </a:p>
          <a:p>
            <a:pPr algn="l" marL="101600" indent="-101600">
              <a:lnSpc>
                <a:spcPts val="1560"/>
              </a:lnSpc>
              <a:spcAft>
                <a:spcPts val="400"/>
              </a:spcAft>
              <a:buSzPct val="100000"/>
              <a:buChar char="•"/>
            </a:pPr>
            <a:r>
              <a:rPr lang="en-US" sz="1200" b="1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8. Final Ranking:</a:t>
            </a:r>
            <a:pPr algn="l" indent="0" marL="0">
              <a:lnSpc>
                <a:spcPts val="1560"/>
              </a:lnSpc>
              <a:spcAft>
                <a:spcPts val="400"/>
              </a:spcAft>
              <a:buNone/>
            </a:pPr>
            <a:r>
              <a:rPr lang="en-US" sz="12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HLA binding and TPM thresholding.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0F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890885"/>
          </a:xfrm>
          <a:prstGeom prst="rect">
            <a:avLst/>
          </a:prstGeom>
          <a:solidFill>
            <a:srgbClr val="131C2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871835"/>
            <a:ext cx="9144000" cy="0"/>
          </a:xfrm>
          <a:prstGeom prst="line">
            <a:avLst/>
          </a:prstGeom>
          <a:noFill/>
          <a:ln w="38100">
            <a:solidFill>
              <a:srgbClr val="7C4D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81000" y="264468"/>
            <a:ext cx="5019422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4. Defining the Baseline </a:t>
            </a:r>
            <a:pPr algn="l" indent="0" marL="0">
              <a:buNone/>
            </a:pPr>
            <a:r>
              <a:rPr lang="en-US" sz="2200" b="1" dirty="0">
                <a:solidFill>
                  <a:srgbClr val="00E5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(Steps 1 &amp; 2)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81000" y="1081385"/>
            <a:ext cx="4845606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7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Technical Methodology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381000" y="1490960"/>
            <a:ext cx="4845606" cy="594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60"/>
              </a:lnSpc>
              <a:spcBef>
                <a:spcPts val="1200"/>
              </a:spcBef>
              <a:spcAft>
                <a:spcPts val="600"/>
              </a:spcAft>
              <a:buNone/>
            </a:pPr>
            <a:r>
              <a:rPr lang="en-US" sz="12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We process raw MGF files against the UniProt reference using MaxQuant. This establishes the "normal" peptidome. </a:t>
            </a:r>
            <a:pPr algn="l" indent="0" marL="0">
              <a:lnSpc>
                <a:spcPts val="1560"/>
              </a:lnSpc>
              <a:spcBef>
                <a:spcPts val="1200"/>
              </a:spcBef>
              <a:spcAft>
                <a:spcPts val="600"/>
              </a:spcAft>
              <a:buNone/>
            </a:pPr>
            <a:endParaRPr lang="en-US" sz="1200" dirty="0"/>
          </a:p>
          <a:p>
            <a:pPr algn="l" indent="0" marL="0">
              <a:lnSpc>
                <a:spcPts val="1560"/>
              </a:lnSpc>
              <a:spcBef>
                <a:spcPts val="1200"/>
              </a:spcBef>
              <a:spcAft>
                <a:spcPts val="600"/>
              </a:spcAft>
              <a:buNone/>
            </a:pPr>
            <a:r>
              <a:rPr lang="en-US" sz="1100" b="1" dirty="0">
                <a:solidFill>
                  <a:srgbClr val="00E5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Implemented in: src/data_prep/04_extract_psms.py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81000" y="2161431"/>
            <a:ext cx="4845606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7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Rigorous Filtering Criteria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381000" y="2494806"/>
            <a:ext cx="4750594" cy="519261"/>
          </a:xfrm>
          <a:prstGeom prst="rect">
            <a:avLst/>
          </a:prstGeom>
          <a:solidFill>
            <a:srgbClr val="152C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Shape 7"/>
          <p:cNvSpPr/>
          <p:nvPr/>
        </p:nvSpPr>
        <p:spPr>
          <a:xfrm>
            <a:off x="409575" y="2494806"/>
            <a:ext cx="0" cy="519261"/>
          </a:xfrm>
          <a:prstGeom prst="line">
            <a:avLst/>
          </a:prstGeom>
          <a:noFill/>
          <a:ln w="57150">
            <a:solidFill>
              <a:srgbClr val="00E5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90550" y="2647206"/>
            <a:ext cx="4476417" cy="2144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9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PEP ≤ 0.01 (Posterior Error Probability)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81000" y="3141018"/>
            <a:ext cx="4750594" cy="519261"/>
          </a:xfrm>
          <a:prstGeom prst="rect">
            <a:avLst/>
          </a:prstGeom>
          <a:solidFill>
            <a:srgbClr val="152C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Shape 10"/>
          <p:cNvSpPr/>
          <p:nvPr/>
        </p:nvSpPr>
        <p:spPr>
          <a:xfrm>
            <a:off x="409575" y="3141018"/>
            <a:ext cx="0" cy="519261"/>
          </a:xfrm>
          <a:prstGeom prst="line">
            <a:avLst/>
          </a:prstGeom>
          <a:noFill/>
          <a:ln w="57150">
            <a:solidFill>
              <a:srgbClr val="00E5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90550" y="3293418"/>
            <a:ext cx="4476417" cy="2144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9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Peptide Length Constraints: 8 - 11 amino acids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81000" y="3787229"/>
            <a:ext cx="4750594" cy="519261"/>
          </a:xfrm>
          <a:prstGeom prst="rect">
            <a:avLst/>
          </a:prstGeom>
          <a:solidFill>
            <a:srgbClr val="152C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Shape 13"/>
          <p:cNvSpPr/>
          <p:nvPr/>
        </p:nvSpPr>
        <p:spPr>
          <a:xfrm>
            <a:off x="409575" y="3787229"/>
            <a:ext cx="0" cy="519261"/>
          </a:xfrm>
          <a:prstGeom prst="line">
            <a:avLst/>
          </a:prstGeom>
          <a:noFill/>
          <a:ln w="57150">
            <a:solidFill>
              <a:srgbClr val="00E5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90550" y="3939629"/>
            <a:ext cx="4476417" cy="2144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9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FDR Threshold: strict 1% cutoff for known targets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512594" y="890885"/>
            <a:ext cx="3631406" cy="4252615"/>
          </a:xfrm>
          <a:prstGeom prst="rect">
            <a:avLst/>
          </a:prstGeom>
          <a:solidFill>
            <a:srgbClr val="131C2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Shape 16"/>
          <p:cNvSpPr/>
          <p:nvPr/>
        </p:nvSpPr>
        <p:spPr>
          <a:xfrm>
            <a:off x="5522119" y="890885"/>
            <a:ext cx="0" cy="4252615"/>
          </a:xfrm>
          <a:prstGeom prst="line">
            <a:avLst/>
          </a:prstGeom>
          <a:noFill/>
          <a:ln w="19050">
            <a:solidFill>
              <a:srgbClr val="1E293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912644" y="1081385"/>
            <a:ext cx="2850356" cy="962323"/>
          </a:xfrm>
          <a:prstGeom prst="rect">
            <a:avLst/>
          </a:prstGeom>
          <a:solidFill>
            <a:srgbClr val="2D1B2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Shape 18"/>
          <p:cNvSpPr/>
          <p:nvPr/>
        </p:nvSpPr>
        <p:spPr>
          <a:xfrm>
            <a:off x="5936456" y="1081385"/>
            <a:ext cx="0" cy="962323"/>
          </a:xfrm>
          <a:prstGeom prst="line">
            <a:avLst/>
          </a:prstGeom>
          <a:noFill/>
          <a:ln w="47625">
            <a:solidFill>
              <a:srgbClr val="FF336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087219" y="1208336"/>
            <a:ext cx="2599807" cy="1675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20"/>
              </a:lnSpc>
              <a:spcAft>
                <a:spcPts val="300"/>
              </a:spcAft>
              <a:buNone/>
            </a:pPr>
            <a:r>
              <a:rPr lang="en-US" sz="1100" b="1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PSM (Peptide-Spectrum Match)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087219" y="1414016"/>
            <a:ext cx="2599807" cy="5027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2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physical mass spectrum successfully assigned to a known reference peptide sequence.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0F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890885"/>
          </a:xfrm>
          <a:prstGeom prst="rect">
            <a:avLst/>
          </a:prstGeom>
          <a:solidFill>
            <a:srgbClr val="131C2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871835"/>
            <a:ext cx="9144000" cy="0"/>
          </a:xfrm>
          <a:prstGeom prst="line">
            <a:avLst/>
          </a:prstGeom>
          <a:noFill/>
          <a:ln w="38100">
            <a:solidFill>
              <a:srgbClr val="7C4D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81000" y="264468"/>
            <a:ext cx="4765756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5. Isolating the Dark Matter </a:t>
            </a:r>
            <a:pPr algn="l" indent="0" marL="0">
              <a:buNone/>
            </a:pPr>
            <a:r>
              <a:rPr lang="en-US" sz="2200" b="1" dirty="0">
                <a:solidFill>
                  <a:srgbClr val="00E5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(Step 5)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81000" y="1081385"/>
            <a:ext cx="4845606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7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Unlabeled Spectra Extractor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381000" y="1490960"/>
            <a:ext cx="4845606" cy="594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60"/>
              </a:lnSpc>
              <a:spcBef>
                <a:spcPts val="1200"/>
              </a:spcBef>
              <a:spcAft>
                <a:spcPts val="600"/>
              </a:spcAft>
              <a:buNone/>
            </a:pPr>
            <a:r>
              <a:rPr lang="en-US" sz="12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MaxQuant discards spectra that do not match the standard human database. We intercept this process. </a:t>
            </a:r>
            <a:pPr algn="l" indent="0" marL="0">
              <a:lnSpc>
                <a:spcPts val="1560"/>
              </a:lnSpc>
              <a:spcBef>
                <a:spcPts val="1200"/>
              </a:spcBef>
              <a:spcAft>
                <a:spcPts val="600"/>
              </a:spcAft>
              <a:buNone/>
            </a:pPr>
            <a:endParaRPr lang="en-US" sz="1200" dirty="0"/>
          </a:p>
          <a:p>
            <a:pPr algn="l" indent="0" marL="0">
              <a:lnSpc>
                <a:spcPts val="1560"/>
              </a:lnSpc>
              <a:spcBef>
                <a:spcPts val="1200"/>
              </a:spcBef>
              <a:spcAft>
                <a:spcPts val="600"/>
              </a:spcAft>
              <a:buNone/>
            </a:pPr>
            <a:r>
              <a:rPr lang="en-US" sz="1100" b="1" dirty="0">
                <a:solidFill>
                  <a:srgbClr val="00E5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Implemented in: src/data_prep/05_extract_unlabeled_spectra.py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19100" y="2237631"/>
            <a:ext cx="0" cy="594271"/>
          </a:xfrm>
          <a:prstGeom prst="line">
            <a:avLst/>
          </a:prstGeom>
          <a:noFill/>
          <a:ln w="76200">
            <a:solidFill>
              <a:srgbClr val="7C4D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09600" y="2237631"/>
            <a:ext cx="4612434" cy="594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60"/>
              </a:lnSpc>
              <a:spcBef>
                <a:spcPts val="1200"/>
              </a:spcBef>
              <a:spcAft>
                <a:spcPts val="600"/>
              </a:spcAft>
              <a:buNone/>
            </a:pPr>
            <a:r>
              <a:rPr lang="en-US" sz="12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pipeline cross-references all raw spectra against the validated normal PSMs. Any spectrum lacking a high-confidence baseline assignment is isolated.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81000" y="2984302"/>
            <a:ext cx="4845606" cy="3961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60"/>
              </a:lnSpc>
              <a:spcBef>
                <a:spcPts val="1200"/>
              </a:spcBef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Impact:</a:t>
            </a:r>
            <a:pPr algn="l" indent="0" marL="0">
              <a:lnSpc>
                <a:spcPts val="1560"/>
              </a:lnSpc>
              <a:spcBef>
                <a:spcPts val="1200"/>
              </a:spcBef>
              <a:spcAft>
                <a:spcPts val="600"/>
              </a:spcAft>
              <a:buNone/>
            </a:pPr>
            <a:r>
              <a:rPr lang="en-US" sz="12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This vastly reduces the search space, feeding the AI only the highly enriched, potentially mutated sequences.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512594" y="890885"/>
            <a:ext cx="3631406" cy="4252615"/>
          </a:xfrm>
          <a:prstGeom prst="rect">
            <a:avLst/>
          </a:prstGeom>
          <a:solidFill>
            <a:srgbClr val="131C2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Shape 9"/>
          <p:cNvSpPr/>
          <p:nvPr/>
        </p:nvSpPr>
        <p:spPr>
          <a:xfrm>
            <a:off x="5522119" y="890885"/>
            <a:ext cx="0" cy="4252615"/>
          </a:xfrm>
          <a:prstGeom prst="line">
            <a:avLst/>
          </a:prstGeom>
          <a:noFill/>
          <a:ln w="19050">
            <a:solidFill>
              <a:srgbClr val="1E293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912644" y="1220986"/>
            <a:ext cx="2907363" cy="1675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20"/>
              </a:lnSpc>
              <a:spcBef>
                <a:spcPts val="1100"/>
              </a:spcBef>
              <a:spcAft>
                <a:spcPts val="600"/>
              </a:spcAft>
              <a:buNone/>
            </a:pPr>
            <a:r>
              <a:rPr lang="en-US" sz="1100" b="1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Algorithmic Efficiency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912644" y="1528167"/>
            <a:ext cx="2907363" cy="6703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20"/>
              </a:lnSpc>
              <a:spcBef>
                <a:spcPts val="1100"/>
              </a:spcBef>
              <a:spcAft>
                <a:spcPts val="600"/>
              </a:spcAft>
              <a:buNone/>
            </a:pPr>
            <a:r>
              <a:rPr lang="en-US" sz="11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By eliminating 90%+ of normal spectra prior to inference, the deep learning model focuses computing power entirely on discovering novel variations.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0F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890885"/>
          </a:xfrm>
          <a:prstGeom prst="rect">
            <a:avLst/>
          </a:prstGeom>
          <a:solidFill>
            <a:srgbClr val="131C2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871835"/>
            <a:ext cx="9144000" cy="0"/>
          </a:xfrm>
          <a:prstGeom prst="line">
            <a:avLst/>
          </a:prstGeom>
          <a:noFill/>
          <a:ln w="38100">
            <a:solidFill>
              <a:srgbClr val="7C4D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81000" y="264468"/>
            <a:ext cx="4697292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6. AI De Novo Architecture </a:t>
            </a:r>
            <a:pPr algn="l" indent="0" marL="0">
              <a:buNone/>
            </a:pPr>
            <a:r>
              <a:rPr lang="en-US" sz="2200" b="1" dirty="0">
                <a:solidFill>
                  <a:srgbClr val="00E5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(Step 6)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81000" y="1081385"/>
            <a:ext cx="4845606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7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CNN-LSTM Deep Learning Model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381000" y="1351359"/>
            <a:ext cx="4845606" cy="3631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30"/>
              </a:lnSpc>
              <a:spcAft>
                <a:spcPts val="600"/>
              </a:spcAft>
              <a:buNone/>
            </a:pPr>
            <a:r>
              <a:rPr lang="en-US" sz="1100" b="1" dirty="0">
                <a:solidFill>
                  <a:srgbClr val="00E5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Scripts: src/training/05_train_denovo_model.py, src/inference/06_predict_denovo.py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81000" y="1790700"/>
            <a:ext cx="4750594" cy="1290042"/>
          </a:xfrm>
          <a:prstGeom prst="rect">
            <a:avLst/>
          </a:prstGeom>
          <a:noFill/>
          <a:ln/>
        </p:spPr>
        <p:txBody>
          <a:bodyPr wrap="square" lIns="101600" tIns="0" rIns="0" bIns="0" rtlCol="0" anchor="t"/>
          <a:lstStyle/>
          <a:p>
            <a:pPr algn="l" marL="101600" indent="-101600">
              <a:lnSpc>
                <a:spcPts val="1560"/>
              </a:lnSpc>
              <a:spcAft>
                <a:spcPts val="400"/>
              </a:spcAft>
              <a:buSzPct val="100000"/>
              <a:buChar char="•"/>
            </a:pPr>
            <a:r>
              <a:rPr lang="en-US" sz="1200" b="1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Input Representation:</a:t>
            </a:r>
            <a:pPr algn="l" indent="0" marL="0">
              <a:lnSpc>
                <a:spcPts val="1560"/>
              </a:lnSpc>
              <a:spcAft>
                <a:spcPts val="400"/>
              </a:spcAft>
              <a:buNone/>
            </a:pPr>
            <a:r>
              <a:rPr lang="en-US" sz="12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Mass spectra are binned into fixed-size 1D tensors (resolution: 0.1 Da).</a:t>
            </a:r>
            <a:endParaRPr lang="en-US" sz="1200" dirty="0"/>
          </a:p>
          <a:p>
            <a:pPr algn="l" marL="101600" indent="-101600">
              <a:lnSpc>
                <a:spcPts val="1560"/>
              </a:lnSpc>
              <a:spcAft>
                <a:spcPts val="400"/>
              </a:spcAft>
              <a:buSzPct val="100000"/>
              <a:buChar char="•"/>
            </a:pPr>
            <a:r>
              <a:rPr lang="en-US" sz="1200" b="1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CNN Encoder:</a:t>
            </a:r>
            <a:pPr algn="l" indent="0" marL="0">
              <a:lnSpc>
                <a:spcPts val="1560"/>
              </a:lnSpc>
              <a:spcAft>
                <a:spcPts val="400"/>
              </a:spcAft>
              <a:buNone/>
            </a:pPr>
            <a:r>
              <a:rPr lang="en-US" sz="12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Extracts spatial hierarchies (the exact mass differences between fragmented ion peaks).</a:t>
            </a:r>
            <a:endParaRPr lang="en-US" sz="1200" dirty="0"/>
          </a:p>
          <a:p>
            <a:pPr algn="l" marL="101600" indent="-101600">
              <a:lnSpc>
                <a:spcPts val="1560"/>
              </a:lnSpc>
              <a:spcAft>
                <a:spcPts val="400"/>
              </a:spcAft>
              <a:buSzPct val="100000"/>
              <a:buChar char="•"/>
            </a:pPr>
            <a:r>
              <a:rPr lang="en-US" sz="1200" b="1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LSTM Decoder:</a:t>
            </a:r>
            <a:pPr algn="l" indent="0" marL="0">
              <a:lnSpc>
                <a:spcPts val="1560"/>
              </a:lnSpc>
              <a:spcAft>
                <a:spcPts val="400"/>
              </a:spcAft>
              <a:buNone/>
            </a:pPr>
            <a:r>
              <a:rPr lang="en-US" sz="12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Translates features into a sequence of amino acids step-by-step, modeling peptide bonds.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81000" y="3131493"/>
            <a:ext cx="4845606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7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Transfer Learning Advantage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381000" y="3541068"/>
            <a:ext cx="4845606" cy="3961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60"/>
              </a:lnSpc>
              <a:spcBef>
                <a:spcPts val="1200"/>
              </a:spcBef>
              <a:spcAft>
                <a:spcPts val="600"/>
              </a:spcAft>
              <a:buNone/>
            </a:pPr>
            <a:r>
              <a:rPr lang="en-US" sz="12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model is fine-tuned on the patient's own normal PSMs to adapt to instrument-specific ionization biases.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512594" y="890885"/>
            <a:ext cx="3631406" cy="4252615"/>
          </a:xfrm>
          <a:prstGeom prst="rect">
            <a:avLst/>
          </a:prstGeom>
          <a:solidFill>
            <a:srgbClr val="131C2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Shape 9"/>
          <p:cNvSpPr/>
          <p:nvPr/>
        </p:nvSpPr>
        <p:spPr>
          <a:xfrm>
            <a:off x="5522119" y="890885"/>
            <a:ext cx="0" cy="4252615"/>
          </a:xfrm>
          <a:prstGeom prst="line">
            <a:avLst/>
          </a:prstGeom>
          <a:noFill/>
          <a:ln w="19050">
            <a:solidFill>
              <a:srgbClr val="1E293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912644" y="1081385"/>
            <a:ext cx="2850356" cy="962323"/>
          </a:xfrm>
          <a:prstGeom prst="rect">
            <a:avLst/>
          </a:prstGeom>
          <a:solidFill>
            <a:srgbClr val="2D1B2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Shape 11"/>
          <p:cNvSpPr/>
          <p:nvPr/>
        </p:nvSpPr>
        <p:spPr>
          <a:xfrm>
            <a:off x="5936456" y="1081385"/>
            <a:ext cx="0" cy="962323"/>
          </a:xfrm>
          <a:prstGeom prst="line">
            <a:avLst/>
          </a:prstGeom>
          <a:noFill/>
          <a:ln w="47625">
            <a:solidFill>
              <a:srgbClr val="FF336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087219" y="1208336"/>
            <a:ext cx="2599807" cy="1675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20"/>
              </a:lnSpc>
              <a:spcAft>
                <a:spcPts val="300"/>
              </a:spcAft>
              <a:buNone/>
            </a:pPr>
            <a:r>
              <a:rPr lang="en-US" sz="1100" b="1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 Novo Sequencing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087219" y="1414016"/>
            <a:ext cx="2599807" cy="5027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2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Computational translation of an MS spectrum into an amino acid sequence without a reference template.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0F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890885"/>
          </a:xfrm>
          <a:prstGeom prst="rect">
            <a:avLst/>
          </a:prstGeom>
          <a:solidFill>
            <a:srgbClr val="131C2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871835"/>
            <a:ext cx="9144000" cy="0"/>
          </a:xfrm>
          <a:prstGeom prst="line">
            <a:avLst/>
          </a:prstGeom>
          <a:noFill/>
          <a:ln w="38100">
            <a:solidFill>
              <a:srgbClr val="7C4D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81000" y="264468"/>
            <a:ext cx="5668083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7. Quality Control &amp; Ranking </a:t>
            </a:r>
            <a:pPr algn="l" indent="0" marL="0">
              <a:buNone/>
            </a:pPr>
            <a:r>
              <a:rPr lang="en-US" sz="2200" b="1" dirty="0">
                <a:solidFill>
                  <a:srgbClr val="00E5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(Steps 7 &amp; 8)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81000" y="1081385"/>
            <a:ext cx="3886200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7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Structural &amp; Statistical Filters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381000" y="1351359"/>
            <a:ext cx="3886200" cy="1815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30"/>
              </a:lnSpc>
              <a:spcAft>
                <a:spcPts val="600"/>
              </a:spcAft>
              <a:buNone/>
            </a:pPr>
            <a:r>
              <a:rPr lang="en-US" sz="1100" b="1" dirty="0">
                <a:solidFill>
                  <a:srgbClr val="00E5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Script: src/postprocess/07_filter_neoantigens.py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81000" y="1609130"/>
            <a:ext cx="3810000" cy="1488132"/>
          </a:xfrm>
          <a:prstGeom prst="rect">
            <a:avLst/>
          </a:prstGeom>
          <a:noFill/>
          <a:ln/>
        </p:spPr>
        <p:txBody>
          <a:bodyPr wrap="square" lIns="101600" tIns="0" rIns="0" bIns="0" rtlCol="0" anchor="t"/>
          <a:lstStyle/>
          <a:p>
            <a:pPr algn="l" marL="101600" indent="-101600">
              <a:lnSpc>
                <a:spcPts val="1560"/>
              </a:lnSpc>
              <a:spcAft>
                <a:spcPts val="400"/>
              </a:spcAft>
              <a:buSzPct val="100000"/>
              <a:buChar char="•"/>
            </a:pPr>
            <a:r>
              <a:rPr lang="en-US" sz="1200" b="1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Target-Decoy FDR:</a:t>
            </a:r>
            <a:pPr algn="l" indent="0" marL="0">
              <a:lnSpc>
                <a:spcPts val="1560"/>
              </a:lnSpc>
              <a:spcAft>
                <a:spcPts val="400"/>
              </a:spcAft>
              <a:buNone/>
            </a:pPr>
            <a:r>
              <a:rPr lang="en-US" sz="12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Sequences are reversed and re-scored on the spectrum. Must achieve </a:t>
            </a:r>
            <a:pPr algn="l" indent="0" marL="0">
              <a:lnSpc>
                <a:spcPts val="1560"/>
              </a:lnSpc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FDR ≤ 5%</a:t>
            </a:r>
            <a:pPr algn="l" indent="0" marL="0">
              <a:lnSpc>
                <a:spcPts val="1560"/>
              </a:lnSpc>
              <a:spcAft>
                <a:spcPts val="400"/>
              </a:spcAft>
              <a:buNone/>
            </a:pPr>
            <a:r>
              <a:rPr lang="en-US" sz="12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.</a:t>
            </a:r>
            <a:endParaRPr lang="en-US" sz="1200" dirty="0"/>
          </a:p>
          <a:p>
            <a:pPr algn="l" marL="101600" indent="-101600">
              <a:lnSpc>
                <a:spcPts val="1560"/>
              </a:lnSpc>
              <a:spcAft>
                <a:spcPts val="400"/>
              </a:spcAft>
              <a:buSzPct val="100000"/>
              <a:buChar char="•"/>
            </a:pPr>
            <a:r>
              <a:rPr lang="en-US" sz="1200" b="1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Mutation Validation:</a:t>
            </a:r>
            <a:pPr algn="l" indent="0" marL="0">
              <a:lnSpc>
                <a:spcPts val="1560"/>
              </a:lnSpc>
              <a:spcAft>
                <a:spcPts val="400"/>
              </a:spcAft>
              <a:buNone/>
            </a:pPr>
            <a:r>
              <a:rPr lang="en-US" sz="12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Predicted sequence must be exactly </a:t>
            </a:r>
            <a:pPr algn="l" indent="0" marL="0">
              <a:lnSpc>
                <a:spcPts val="1560"/>
              </a:lnSpc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one missense mutation</a:t>
            </a:r>
            <a:pPr algn="l" indent="0" marL="0">
              <a:lnSpc>
                <a:spcPts val="1560"/>
              </a:lnSpc>
              <a:spcAft>
                <a:spcPts val="400"/>
              </a:spcAft>
              <a:buNone/>
            </a:pPr>
            <a:r>
              <a:rPr lang="en-US" sz="12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away from the wild-type.</a:t>
            </a:r>
            <a:endParaRPr lang="en-US" sz="1200" dirty="0"/>
          </a:p>
          <a:p>
            <a:pPr algn="l" marL="101600" indent="-101600">
              <a:lnSpc>
                <a:spcPts val="1560"/>
              </a:lnSpc>
              <a:spcAft>
                <a:spcPts val="400"/>
              </a:spcAft>
              <a:buSzPct val="100000"/>
              <a:buChar char="•"/>
            </a:pPr>
            <a:r>
              <a:rPr lang="en-US" sz="1200" b="1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Spectral Support:</a:t>
            </a:r>
            <a:pPr algn="l" indent="0" marL="0">
              <a:lnSpc>
                <a:spcPts val="1560"/>
              </a:lnSpc>
              <a:spcAft>
                <a:spcPts val="400"/>
              </a:spcAft>
              <a:buNone/>
            </a:pPr>
            <a:r>
              <a:rPr lang="en-US" sz="12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Requires a minimum of </a:t>
            </a:r>
            <a:pPr algn="l" indent="0" marL="0">
              <a:lnSpc>
                <a:spcPts val="1560"/>
              </a:lnSpc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 independent PSMs</a:t>
            </a:r>
            <a:pPr algn="l" indent="0" marL="0">
              <a:lnSpc>
                <a:spcPts val="1560"/>
              </a:lnSpc>
              <a:spcAft>
                <a:spcPts val="400"/>
              </a:spcAft>
              <a:buNone/>
            </a:pPr>
            <a:r>
              <a:rPr lang="en-US" sz="12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supporting the mutation.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0" y="890885"/>
            <a:ext cx="4572000" cy="4252615"/>
          </a:xfrm>
          <a:prstGeom prst="rect">
            <a:avLst/>
          </a:prstGeom>
          <a:solidFill>
            <a:srgbClr val="131C2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4953000" y="1081385"/>
            <a:ext cx="3886200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7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Biological Viability Ranking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4953000" y="1351359"/>
            <a:ext cx="3886200" cy="1815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30"/>
              </a:lnSpc>
              <a:spcAft>
                <a:spcPts val="600"/>
              </a:spcAft>
              <a:buNone/>
            </a:pPr>
            <a:r>
              <a:rPr lang="en-US" sz="1100" b="1" dirty="0">
                <a:solidFill>
                  <a:srgbClr val="00E5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Script: src/postprocess/08_rank_candidates.py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953000" y="1609130"/>
            <a:ext cx="3810000" cy="519261"/>
          </a:xfrm>
          <a:prstGeom prst="rect">
            <a:avLst/>
          </a:prstGeom>
          <a:solidFill>
            <a:srgbClr val="152C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Shape 10"/>
          <p:cNvSpPr/>
          <p:nvPr/>
        </p:nvSpPr>
        <p:spPr>
          <a:xfrm>
            <a:off x="4981575" y="1609130"/>
            <a:ext cx="0" cy="519261"/>
          </a:xfrm>
          <a:prstGeom prst="line">
            <a:avLst/>
          </a:prstGeom>
          <a:noFill/>
          <a:ln w="57150">
            <a:solidFill>
              <a:srgbClr val="00E5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162550" y="1761530"/>
            <a:ext cx="3517011" cy="2144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9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MHC Binding %Rank ≤ 2.0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953000" y="2280791"/>
            <a:ext cx="3886200" cy="3961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60"/>
              </a:lnSpc>
              <a:spcBef>
                <a:spcPts val="1200"/>
              </a:spcBef>
              <a:spcAft>
                <a:spcPts val="600"/>
              </a:spcAft>
              <a:buNone/>
            </a:pPr>
            <a:r>
              <a:rPr lang="en-US" sz="12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Computed using netMHCpan with the extracted patient HLA alleles.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953000" y="2753171"/>
            <a:ext cx="3810000" cy="519261"/>
          </a:xfrm>
          <a:prstGeom prst="rect">
            <a:avLst/>
          </a:prstGeom>
          <a:solidFill>
            <a:srgbClr val="152C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Shape 14"/>
          <p:cNvSpPr/>
          <p:nvPr/>
        </p:nvSpPr>
        <p:spPr>
          <a:xfrm>
            <a:off x="4981575" y="2753171"/>
            <a:ext cx="0" cy="519261"/>
          </a:xfrm>
          <a:prstGeom prst="line">
            <a:avLst/>
          </a:prstGeom>
          <a:noFill/>
          <a:ln w="57150">
            <a:solidFill>
              <a:srgbClr val="00E5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162550" y="2905571"/>
            <a:ext cx="3517011" cy="2144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9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Expression TPM ≥ 1.0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953000" y="3424833"/>
            <a:ext cx="3886200" cy="1980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60"/>
              </a:lnSpc>
              <a:spcBef>
                <a:spcPts val="1200"/>
              </a:spcBef>
              <a:spcAft>
                <a:spcPts val="600"/>
              </a:spcAft>
              <a:buNone/>
            </a:pPr>
            <a:r>
              <a:rPr lang="en-US" sz="12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Confirmed via RNA-seq integration.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0F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890885"/>
          </a:xfrm>
          <a:prstGeom prst="rect">
            <a:avLst/>
          </a:prstGeom>
          <a:solidFill>
            <a:srgbClr val="131C2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871835"/>
            <a:ext cx="9144000" cy="0"/>
          </a:xfrm>
          <a:prstGeom prst="line">
            <a:avLst/>
          </a:prstGeom>
          <a:noFill/>
          <a:ln w="38100">
            <a:solidFill>
              <a:srgbClr val="7C4D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81000" y="264468"/>
            <a:ext cx="4290759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8. Current Status &amp; </a:t>
            </a:r>
            <a:pPr algn="l" indent="0" marL="0">
              <a:buNone/>
            </a:pPr>
            <a:r>
              <a:rPr lang="en-US" sz="2200" b="1" dirty="0">
                <a:solidFill>
                  <a:srgbClr val="00E5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Deployment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81000" y="1081385"/>
            <a:ext cx="4845606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7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Pipeline Readiness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419100" y="1490960"/>
            <a:ext cx="0" cy="396180"/>
          </a:xfrm>
          <a:prstGeom prst="line">
            <a:avLst/>
          </a:prstGeom>
          <a:noFill/>
          <a:ln w="76200">
            <a:solidFill>
              <a:srgbClr val="7C4D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09600" y="1490960"/>
            <a:ext cx="4612434" cy="3961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60"/>
              </a:lnSpc>
              <a:spcBef>
                <a:spcPts val="1200"/>
              </a:spcBef>
              <a:spcAft>
                <a:spcPts val="600"/>
              </a:spcAft>
              <a:buNone/>
            </a:pPr>
            <a:r>
              <a:rPr lang="en-US" sz="12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pipeline is fully operational and executes autonomously from MS/MS ingestion to final candidate ranking.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81000" y="2039541"/>
            <a:ext cx="4750594" cy="1488132"/>
          </a:xfrm>
          <a:prstGeom prst="rect">
            <a:avLst/>
          </a:prstGeom>
          <a:noFill/>
          <a:ln/>
        </p:spPr>
        <p:txBody>
          <a:bodyPr wrap="square" lIns="101600" tIns="0" rIns="0" bIns="0" rtlCol="0" anchor="t"/>
          <a:lstStyle/>
          <a:p>
            <a:pPr algn="l" marL="101600" indent="-101600">
              <a:lnSpc>
                <a:spcPts val="1560"/>
              </a:lnSpc>
              <a:spcAft>
                <a:spcPts val="400"/>
              </a:spcAft>
              <a:buSzPct val="100000"/>
              <a:buChar char="•"/>
            </a:pPr>
            <a:r>
              <a:rPr lang="en-US" sz="1200" b="1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Automation:</a:t>
            </a:r>
            <a:pPr algn="l" indent="0" marL="0">
              <a:lnSpc>
                <a:spcPts val="1560"/>
              </a:lnSpc>
              <a:spcAft>
                <a:spcPts val="400"/>
              </a:spcAft>
              <a:buNone/>
            </a:pPr>
            <a:r>
              <a:rPr lang="en-US" sz="12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Shell scripts orchestrate all 8 steps without manual intervention.</a:t>
            </a:r>
            <a:endParaRPr lang="en-US" sz="1200" dirty="0"/>
          </a:p>
          <a:p>
            <a:pPr algn="l" marL="101600" indent="-101600">
              <a:lnSpc>
                <a:spcPts val="1560"/>
              </a:lnSpc>
              <a:spcAft>
                <a:spcPts val="400"/>
              </a:spcAft>
              <a:buSzPct val="100000"/>
              <a:buChar char="•"/>
            </a:pPr>
            <a:r>
              <a:rPr lang="en-US" sz="1200" b="1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Validation:</a:t>
            </a:r>
            <a:pPr algn="l" indent="0" marL="0">
              <a:lnSpc>
                <a:spcPts val="1560"/>
              </a:lnSpc>
              <a:spcAft>
                <a:spcPts val="400"/>
              </a:spcAft>
              <a:buNone/>
            </a:pPr>
            <a:r>
              <a:rPr lang="en-US" sz="12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RNA expression currently relies on a robust statistical mock generator to validate the end-to-end logic.</a:t>
            </a:r>
            <a:endParaRPr lang="en-US" sz="1200" dirty="0"/>
          </a:p>
          <a:p>
            <a:pPr algn="l" marL="101600" indent="-101600">
              <a:lnSpc>
                <a:spcPts val="1560"/>
              </a:lnSpc>
              <a:spcAft>
                <a:spcPts val="400"/>
              </a:spcAft>
              <a:buSzPct val="100000"/>
              <a:buChar char="•"/>
            </a:pPr>
            <a:r>
              <a:rPr lang="en-US" sz="1200" b="1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Next Milestone:</a:t>
            </a:r>
            <a:pPr algn="l" indent="0" marL="0">
              <a:lnSpc>
                <a:spcPts val="1560"/>
              </a:lnSpc>
              <a:spcAft>
                <a:spcPts val="400"/>
              </a:spcAft>
              <a:buNone/>
            </a:pPr>
            <a:r>
              <a:rPr lang="en-US" sz="12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Replacing the mock generator with direct API integrations to GEO / clinical databases for production clinical usage.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512594" y="890885"/>
            <a:ext cx="3631406" cy="4252615"/>
          </a:xfrm>
          <a:prstGeom prst="rect">
            <a:avLst/>
          </a:prstGeom>
          <a:solidFill>
            <a:srgbClr val="131C2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Shape 8"/>
          <p:cNvSpPr/>
          <p:nvPr/>
        </p:nvSpPr>
        <p:spPr>
          <a:xfrm>
            <a:off x="5522119" y="890885"/>
            <a:ext cx="0" cy="4252615"/>
          </a:xfrm>
          <a:prstGeom prst="line">
            <a:avLst/>
          </a:prstGeom>
          <a:noFill/>
          <a:ln w="19050">
            <a:solidFill>
              <a:srgbClr val="1E293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912644" y="1220986"/>
            <a:ext cx="2907363" cy="1675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20"/>
              </a:lnSpc>
              <a:spcBef>
                <a:spcPts val="1100"/>
              </a:spcBef>
              <a:spcAft>
                <a:spcPts val="600"/>
              </a:spcAft>
              <a:buNone/>
            </a:pPr>
            <a:r>
              <a:rPr lang="en-US" sz="1100" b="1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Code Architecture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912644" y="1528167"/>
            <a:ext cx="2907363" cy="5027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20"/>
              </a:lnSpc>
              <a:spcBef>
                <a:spcPts val="1100"/>
              </a:spcBef>
              <a:spcAft>
                <a:spcPts val="600"/>
              </a:spcAft>
              <a:buNone/>
            </a:pPr>
            <a:r>
              <a:rPr lang="en-US" sz="11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Modular Python architecture (src/ data_ingestion, processing, model, validation, pipeline).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912644" y="2170509"/>
            <a:ext cx="2907363" cy="3351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20"/>
              </a:lnSpc>
              <a:spcBef>
                <a:spcPts val="1100"/>
              </a:spcBef>
              <a:spcAft>
                <a:spcPts val="600"/>
              </a:spcAft>
              <a:buNone/>
            </a:pPr>
            <a:r>
              <a:rPr lang="en-US" sz="11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Ready for High-Performance Computing (HPC) deployment.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Neoepitope Pipeline Architecture</dc:title>
  <dc:subject>PptxGenJS Presentation</dc:subject>
  <dc:creator>Amity</dc:creator>
  <cp:lastModifiedBy>Amity</cp:lastModifiedBy>
  <cp:revision>1</cp:revision>
  <dcterms:created xsi:type="dcterms:W3CDTF">2026-05-20T05:16:14Z</dcterms:created>
  <dcterms:modified xsi:type="dcterms:W3CDTF">2026-05-20T05:16:14Z</dcterms:modified>
</cp:coreProperties>
</file>